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56" d="100"/>
          <a:sy n="56" d="100"/>
        </p:scale>
        <p:origin x="48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23DB7C-1B3B-4ED9-80F7-43698106119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884E1F0-6E40-45FA-AC26-50BF7DB42298}">
      <dgm:prSet/>
      <dgm:spPr/>
      <dgm:t>
        <a:bodyPr/>
        <a:lstStyle/>
        <a:p>
          <a:r>
            <a:rPr lang="en-GB" dirty="0"/>
            <a:t>“</a:t>
          </a:r>
          <a:r>
            <a:rPr lang="en-GB" b="0" dirty="0">
              <a:solidFill>
                <a:schemeClr val="bg1"/>
              </a:solidFill>
            </a:rPr>
            <a:t>Importance </a:t>
          </a:r>
          <a:r>
            <a:rPr lang="en-KE" b="0" dirty="0">
              <a:solidFill>
                <a:schemeClr val="bg1"/>
              </a:solidFill>
            </a:rPr>
            <a:t>of</a:t>
          </a:r>
          <a:r>
            <a:rPr lang="en-GB" b="0" dirty="0">
              <a:solidFill>
                <a:schemeClr val="bg1"/>
              </a:solidFill>
            </a:rPr>
            <a:t> </a:t>
          </a:r>
          <a:r>
            <a:rPr lang="en-KE" b="0" dirty="0">
              <a:solidFill>
                <a:schemeClr val="bg1"/>
              </a:solidFill>
            </a:rPr>
            <a:t>data cleaning</a:t>
          </a:r>
          <a:r>
            <a:rPr lang="en-GB" b="0" dirty="0">
              <a:solidFill>
                <a:schemeClr val="bg1"/>
              </a:solidFill>
            </a:rPr>
            <a:t> </a:t>
          </a:r>
          <a:r>
            <a:rPr lang="en-KE" b="0" dirty="0">
              <a:solidFill>
                <a:schemeClr val="bg1"/>
              </a:solidFill>
            </a:rPr>
            <a:t> on the quality and reliability of</a:t>
          </a:r>
          <a:r>
            <a:rPr lang="en-GB" b="0" dirty="0">
              <a:solidFill>
                <a:schemeClr val="bg1"/>
              </a:solidFill>
            </a:rPr>
            <a:t> </a:t>
          </a:r>
          <a:r>
            <a:rPr lang="en-KE" b="0" dirty="0">
              <a:solidFill>
                <a:schemeClr val="bg1"/>
              </a:solidFill>
            </a:rPr>
            <a:t>statistical analysis </a:t>
          </a:r>
          <a:r>
            <a:rPr lang="en-GB" b="0" dirty="0">
              <a:solidFill>
                <a:schemeClr val="bg1"/>
              </a:solidFill>
            </a:rPr>
            <a:t>in Kiambu County</a:t>
          </a:r>
          <a:r>
            <a:rPr lang="en-GB" dirty="0"/>
            <a:t>” - title</a:t>
          </a:r>
          <a:endParaRPr lang="en-US" dirty="0"/>
        </a:p>
      </dgm:t>
    </dgm:pt>
    <dgm:pt modelId="{32709DDF-40D4-40E0-8C43-DC91D3B3D67F}" type="parTrans" cxnId="{19902A7A-AFF0-41EE-A09F-7DB3D444EF2D}">
      <dgm:prSet/>
      <dgm:spPr/>
      <dgm:t>
        <a:bodyPr/>
        <a:lstStyle/>
        <a:p>
          <a:endParaRPr lang="en-US"/>
        </a:p>
      </dgm:t>
    </dgm:pt>
    <dgm:pt modelId="{566AAD4B-A74B-46CD-B8C6-D1FC39CD9E94}" type="sibTrans" cxnId="{19902A7A-AFF0-41EE-A09F-7DB3D444EF2D}">
      <dgm:prSet/>
      <dgm:spPr/>
      <dgm:t>
        <a:bodyPr/>
        <a:lstStyle/>
        <a:p>
          <a:endParaRPr lang="en-US"/>
        </a:p>
      </dgm:t>
    </dgm:pt>
    <dgm:pt modelId="{1489E150-BD12-45EE-AB55-2757047BC3E6}">
      <dgm:prSet/>
      <dgm:spPr/>
      <dgm:t>
        <a:bodyPr/>
        <a:lstStyle/>
        <a:p>
          <a:r>
            <a:rPr lang="en-GB" b="1" u="sng" dirty="0"/>
            <a:t>Main Objective</a:t>
          </a:r>
          <a:endParaRPr lang="en-US" b="1" dirty="0"/>
        </a:p>
      </dgm:t>
    </dgm:pt>
    <dgm:pt modelId="{C399329A-E115-4F9A-800C-297598BF0987}" type="parTrans" cxnId="{B91F0E31-7BBB-4A11-88C9-0907634A3B88}">
      <dgm:prSet/>
      <dgm:spPr/>
      <dgm:t>
        <a:bodyPr/>
        <a:lstStyle/>
        <a:p>
          <a:endParaRPr lang="en-US"/>
        </a:p>
      </dgm:t>
    </dgm:pt>
    <dgm:pt modelId="{BC3F4D59-99BB-4956-92CB-FCCF6D84F3F4}" type="sibTrans" cxnId="{B91F0E31-7BBB-4A11-88C9-0907634A3B88}">
      <dgm:prSet/>
      <dgm:spPr/>
      <dgm:t>
        <a:bodyPr/>
        <a:lstStyle/>
        <a:p>
          <a:endParaRPr lang="en-US"/>
        </a:p>
      </dgm:t>
    </dgm:pt>
    <dgm:pt modelId="{CAC345BE-A02D-4FED-8E85-F3E09E39BDEB}">
      <dgm:prSet/>
      <dgm:spPr/>
      <dgm:t>
        <a:bodyPr/>
        <a:lstStyle/>
        <a:p>
          <a:r>
            <a:rPr lang="en-GB" dirty="0"/>
            <a:t>To determine the </a:t>
          </a:r>
          <a:r>
            <a:rPr lang="en-GB" b="0" dirty="0">
              <a:solidFill>
                <a:schemeClr val="bg1"/>
              </a:solidFill>
            </a:rPr>
            <a:t>Importance </a:t>
          </a:r>
          <a:r>
            <a:rPr lang="en-KE" b="0" dirty="0">
              <a:solidFill>
                <a:schemeClr val="bg1"/>
              </a:solidFill>
            </a:rPr>
            <a:t>of</a:t>
          </a:r>
          <a:r>
            <a:rPr lang="en-GB" b="0" dirty="0">
              <a:solidFill>
                <a:schemeClr val="bg1"/>
              </a:solidFill>
            </a:rPr>
            <a:t> </a:t>
          </a:r>
          <a:r>
            <a:rPr lang="en-KE" b="0" dirty="0">
              <a:solidFill>
                <a:schemeClr val="bg1"/>
              </a:solidFill>
            </a:rPr>
            <a:t>data cleaning</a:t>
          </a:r>
          <a:r>
            <a:rPr lang="en-GB" b="0" dirty="0">
              <a:solidFill>
                <a:schemeClr val="bg1"/>
              </a:solidFill>
            </a:rPr>
            <a:t> </a:t>
          </a:r>
          <a:r>
            <a:rPr lang="en-KE" b="0" dirty="0">
              <a:solidFill>
                <a:schemeClr val="bg1"/>
              </a:solidFill>
            </a:rPr>
            <a:t> on the quality and reliability of</a:t>
          </a:r>
          <a:r>
            <a:rPr lang="en-GB" b="0" dirty="0">
              <a:solidFill>
                <a:schemeClr val="bg1"/>
              </a:solidFill>
            </a:rPr>
            <a:t> </a:t>
          </a:r>
          <a:r>
            <a:rPr lang="en-KE" b="0" dirty="0">
              <a:solidFill>
                <a:schemeClr val="bg1"/>
              </a:solidFill>
            </a:rPr>
            <a:t>statistical analysis </a:t>
          </a:r>
          <a:r>
            <a:rPr lang="en-GB" b="0" dirty="0">
              <a:solidFill>
                <a:schemeClr val="bg1"/>
              </a:solidFill>
            </a:rPr>
            <a:t>in Kiambu County</a:t>
          </a:r>
          <a:endParaRPr lang="en-US" b="0" dirty="0"/>
        </a:p>
      </dgm:t>
    </dgm:pt>
    <dgm:pt modelId="{8E0CB15B-29D3-4D56-A37B-28404DBEDBCF}" type="parTrans" cxnId="{C4FCCE09-A0F8-462F-8837-E8DBA0D97E26}">
      <dgm:prSet/>
      <dgm:spPr/>
      <dgm:t>
        <a:bodyPr/>
        <a:lstStyle/>
        <a:p>
          <a:endParaRPr lang="en-US"/>
        </a:p>
      </dgm:t>
    </dgm:pt>
    <dgm:pt modelId="{62B58181-1765-418C-BF2A-4E3DF68B1A38}" type="sibTrans" cxnId="{C4FCCE09-A0F8-462F-8837-E8DBA0D97E26}">
      <dgm:prSet/>
      <dgm:spPr/>
      <dgm:t>
        <a:bodyPr/>
        <a:lstStyle/>
        <a:p>
          <a:endParaRPr lang="en-US"/>
        </a:p>
      </dgm:t>
    </dgm:pt>
    <dgm:pt modelId="{6A7BC39C-BC5F-40E7-A281-1F38450E8A43}" type="pres">
      <dgm:prSet presAssocID="{CD23DB7C-1B3B-4ED9-80F7-436981061192}" presName="root" presStyleCnt="0">
        <dgm:presLayoutVars>
          <dgm:dir/>
          <dgm:resizeHandles val="exact"/>
        </dgm:presLayoutVars>
      </dgm:prSet>
      <dgm:spPr/>
    </dgm:pt>
    <dgm:pt modelId="{40E66457-712E-4298-AE61-5D759795CC66}" type="pres">
      <dgm:prSet presAssocID="{C884E1F0-6E40-45FA-AC26-50BF7DB42298}" presName="compNode" presStyleCnt="0"/>
      <dgm:spPr/>
    </dgm:pt>
    <dgm:pt modelId="{4551358F-DAF3-4DBB-BB8A-0528334F617F}" type="pres">
      <dgm:prSet presAssocID="{C884E1F0-6E40-45FA-AC26-50BF7DB42298}" presName="bgRect" presStyleLbl="bgShp" presStyleIdx="0" presStyleCnt="3"/>
      <dgm:spPr/>
    </dgm:pt>
    <dgm:pt modelId="{AF005353-4C89-422D-9BA3-150ED05FBE24}" type="pres">
      <dgm:prSet presAssocID="{C884E1F0-6E40-45FA-AC26-50BF7DB4229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4F4BD9B-2157-42C2-AD46-E8CCE59574C2}" type="pres">
      <dgm:prSet presAssocID="{C884E1F0-6E40-45FA-AC26-50BF7DB42298}" presName="spaceRect" presStyleCnt="0"/>
      <dgm:spPr/>
    </dgm:pt>
    <dgm:pt modelId="{42C19261-8C5B-45E7-A4B8-3C804F098D75}" type="pres">
      <dgm:prSet presAssocID="{C884E1F0-6E40-45FA-AC26-50BF7DB42298}" presName="parTx" presStyleLbl="revTx" presStyleIdx="0" presStyleCnt="3">
        <dgm:presLayoutVars>
          <dgm:chMax val="0"/>
          <dgm:chPref val="0"/>
        </dgm:presLayoutVars>
      </dgm:prSet>
      <dgm:spPr/>
    </dgm:pt>
    <dgm:pt modelId="{F5FE82A1-3A95-4DFD-B2C6-A20C4CB2F4B0}" type="pres">
      <dgm:prSet presAssocID="{566AAD4B-A74B-46CD-B8C6-D1FC39CD9E94}" presName="sibTrans" presStyleCnt="0"/>
      <dgm:spPr/>
    </dgm:pt>
    <dgm:pt modelId="{3A08CF2A-6D30-487B-A63F-F89F473A7123}" type="pres">
      <dgm:prSet presAssocID="{1489E150-BD12-45EE-AB55-2757047BC3E6}" presName="compNode" presStyleCnt="0"/>
      <dgm:spPr/>
    </dgm:pt>
    <dgm:pt modelId="{5CE9DEE1-3C10-42F8-99F8-166EE736DC81}" type="pres">
      <dgm:prSet presAssocID="{1489E150-BD12-45EE-AB55-2757047BC3E6}" presName="bgRect" presStyleLbl="bgShp" presStyleIdx="1" presStyleCnt="3"/>
      <dgm:spPr/>
    </dgm:pt>
    <dgm:pt modelId="{1A63EBE0-46DE-4FB4-A0DA-31B4BD100715}" type="pres">
      <dgm:prSet presAssocID="{1489E150-BD12-45EE-AB55-2757047BC3E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7FB73AB-2894-447D-B971-70AD3AC0FC5D}" type="pres">
      <dgm:prSet presAssocID="{1489E150-BD12-45EE-AB55-2757047BC3E6}" presName="spaceRect" presStyleCnt="0"/>
      <dgm:spPr/>
    </dgm:pt>
    <dgm:pt modelId="{1CB731FD-A7A7-46D7-ADA7-0BDDEE7A657A}" type="pres">
      <dgm:prSet presAssocID="{1489E150-BD12-45EE-AB55-2757047BC3E6}" presName="parTx" presStyleLbl="revTx" presStyleIdx="1" presStyleCnt="3">
        <dgm:presLayoutVars>
          <dgm:chMax val="0"/>
          <dgm:chPref val="0"/>
        </dgm:presLayoutVars>
      </dgm:prSet>
      <dgm:spPr/>
    </dgm:pt>
    <dgm:pt modelId="{384676F0-B973-4BCA-8CFA-15C166111E1E}" type="pres">
      <dgm:prSet presAssocID="{BC3F4D59-99BB-4956-92CB-FCCF6D84F3F4}" presName="sibTrans" presStyleCnt="0"/>
      <dgm:spPr/>
    </dgm:pt>
    <dgm:pt modelId="{54E027C8-652B-43E7-90B3-57E4842862B7}" type="pres">
      <dgm:prSet presAssocID="{CAC345BE-A02D-4FED-8E85-F3E09E39BDEB}" presName="compNode" presStyleCnt="0"/>
      <dgm:spPr/>
    </dgm:pt>
    <dgm:pt modelId="{6FE27426-CC1A-44AC-AB54-E6EB0489FD71}" type="pres">
      <dgm:prSet presAssocID="{CAC345BE-A02D-4FED-8E85-F3E09E39BDEB}" presName="bgRect" presStyleLbl="bgShp" presStyleIdx="2" presStyleCnt="3"/>
      <dgm:spPr/>
    </dgm:pt>
    <dgm:pt modelId="{EE5EB205-5BE4-431E-9E92-B32102041A40}" type="pres">
      <dgm:prSet presAssocID="{CAC345BE-A02D-4FED-8E85-F3E09E39BDE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2779A3F-A1FF-4352-983A-2C3B668078B1}" type="pres">
      <dgm:prSet presAssocID="{CAC345BE-A02D-4FED-8E85-F3E09E39BDEB}" presName="spaceRect" presStyleCnt="0"/>
      <dgm:spPr/>
    </dgm:pt>
    <dgm:pt modelId="{8AE05ABE-647D-45C9-AEE6-E9879A87A100}" type="pres">
      <dgm:prSet presAssocID="{CAC345BE-A02D-4FED-8E85-F3E09E39BDE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4FCCE09-A0F8-462F-8837-E8DBA0D97E26}" srcId="{CD23DB7C-1B3B-4ED9-80F7-436981061192}" destId="{CAC345BE-A02D-4FED-8E85-F3E09E39BDEB}" srcOrd="2" destOrd="0" parTransId="{8E0CB15B-29D3-4D56-A37B-28404DBEDBCF}" sibTransId="{62B58181-1765-418C-BF2A-4E3DF68B1A38}"/>
    <dgm:cxn modelId="{C6866012-7949-4CC4-906F-617E852F08D2}" type="presOf" srcId="{C884E1F0-6E40-45FA-AC26-50BF7DB42298}" destId="{42C19261-8C5B-45E7-A4B8-3C804F098D75}" srcOrd="0" destOrd="0" presId="urn:microsoft.com/office/officeart/2018/2/layout/IconVerticalSolidList"/>
    <dgm:cxn modelId="{B91F0E31-7BBB-4A11-88C9-0907634A3B88}" srcId="{CD23DB7C-1B3B-4ED9-80F7-436981061192}" destId="{1489E150-BD12-45EE-AB55-2757047BC3E6}" srcOrd="1" destOrd="0" parTransId="{C399329A-E115-4F9A-800C-297598BF0987}" sibTransId="{BC3F4D59-99BB-4956-92CB-FCCF6D84F3F4}"/>
    <dgm:cxn modelId="{19902A7A-AFF0-41EE-A09F-7DB3D444EF2D}" srcId="{CD23DB7C-1B3B-4ED9-80F7-436981061192}" destId="{C884E1F0-6E40-45FA-AC26-50BF7DB42298}" srcOrd="0" destOrd="0" parTransId="{32709DDF-40D4-40E0-8C43-DC91D3B3D67F}" sibTransId="{566AAD4B-A74B-46CD-B8C6-D1FC39CD9E94}"/>
    <dgm:cxn modelId="{506B99B3-98E6-4A91-BCDA-A5C850455DFF}" type="presOf" srcId="{CD23DB7C-1B3B-4ED9-80F7-436981061192}" destId="{6A7BC39C-BC5F-40E7-A281-1F38450E8A43}" srcOrd="0" destOrd="0" presId="urn:microsoft.com/office/officeart/2018/2/layout/IconVerticalSolidList"/>
    <dgm:cxn modelId="{4CA542C0-917D-4E3D-8167-638B330E7F89}" type="presOf" srcId="{1489E150-BD12-45EE-AB55-2757047BC3E6}" destId="{1CB731FD-A7A7-46D7-ADA7-0BDDEE7A657A}" srcOrd="0" destOrd="0" presId="urn:microsoft.com/office/officeart/2018/2/layout/IconVerticalSolidList"/>
    <dgm:cxn modelId="{2F6FEFCB-21D6-4124-BB5A-FE462EF062EC}" type="presOf" srcId="{CAC345BE-A02D-4FED-8E85-F3E09E39BDEB}" destId="{8AE05ABE-647D-45C9-AEE6-E9879A87A100}" srcOrd="0" destOrd="0" presId="urn:microsoft.com/office/officeart/2018/2/layout/IconVerticalSolidList"/>
    <dgm:cxn modelId="{1B16998C-F147-4583-951A-46D0191EBF19}" type="presParOf" srcId="{6A7BC39C-BC5F-40E7-A281-1F38450E8A43}" destId="{40E66457-712E-4298-AE61-5D759795CC66}" srcOrd="0" destOrd="0" presId="urn:microsoft.com/office/officeart/2018/2/layout/IconVerticalSolidList"/>
    <dgm:cxn modelId="{D1933712-10A6-4259-B1DC-BE6A12A3688A}" type="presParOf" srcId="{40E66457-712E-4298-AE61-5D759795CC66}" destId="{4551358F-DAF3-4DBB-BB8A-0528334F617F}" srcOrd="0" destOrd="0" presId="urn:microsoft.com/office/officeart/2018/2/layout/IconVerticalSolidList"/>
    <dgm:cxn modelId="{0535045F-BA06-4B07-BBAE-BA70069ADEAC}" type="presParOf" srcId="{40E66457-712E-4298-AE61-5D759795CC66}" destId="{AF005353-4C89-422D-9BA3-150ED05FBE24}" srcOrd="1" destOrd="0" presId="urn:microsoft.com/office/officeart/2018/2/layout/IconVerticalSolidList"/>
    <dgm:cxn modelId="{90FCB8D8-EF05-45C3-9188-CC68EFE81804}" type="presParOf" srcId="{40E66457-712E-4298-AE61-5D759795CC66}" destId="{D4F4BD9B-2157-42C2-AD46-E8CCE59574C2}" srcOrd="2" destOrd="0" presId="urn:microsoft.com/office/officeart/2018/2/layout/IconVerticalSolidList"/>
    <dgm:cxn modelId="{C45F1088-0868-48AC-85E7-587D29A4AE69}" type="presParOf" srcId="{40E66457-712E-4298-AE61-5D759795CC66}" destId="{42C19261-8C5B-45E7-A4B8-3C804F098D75}" srcOrd="3" destOrd="0" presId="urn:microsoft.com/office/officeart/2018/2/layout/IconVerticalSolidList"/>
    <dgm:cxn modelId="{B0A46663-6473-4BDF-B4C2-4E0D23748EE4}" type="presParOf" srcId="{6A7BC39C-BC5F-40E7-A281-1F38450E8A43}" destId="{F5FE82A1-3A95-4DFD-B2C6-A20C4CB2F4B0}" srcOrd="1" destOrd="0" presId="urn:microsoft.com/office/officeart/2018/2/layout/IconVerticalSolidList"/>
    <dgm:cxn modelId="{410C3156-9ED4-400E-963D-5EE2FB7FE5B6}" type="presParOf" srcId="{6A7BC39C-BC5F-40E7-A281-1F38450E8A43}" destId="{3A08CF2A-6D30-487B-A63F-F89F473A7123}" srcOrd="2" destOrd="0" presId="urn:microsoft.com/office/officeart/2018/2/layout/IconVerticalSolidList"/>
    <dgm:cxn modelId="{B9A9F02E-4009-4781-8760-79980176A1EC}" type="presParOf" srcId="{3A08CF2A-6D30-487B-A63F-F89F473A7123}" destId="{5CE9DEE1-3C10-42F8-99F8-166EE736DC81}" srcOrd="0" destOrd="0" presId="urn:microsoft.com/office/officeart/2018/2/layout/IconVerticalSolidList"/>
    <dgm:cxn modelId="{F1D05847-554C-4E01-A0EE-3B102D1E539E}" type="presParOf" srcId="{3A08CF2A-6D30-487B-A63F-F89F473A7123}" destId="{1A63EBE0-46DE-4FB4-A0DA-31B4BD100715}" srcOrd="1" destOrd="0" presId="urn:microsoft.com/office/officeart/2018/2/layout/IconVerticalSolidList"/>
    <dgm:cxn modelId="{757A36D3-0EBB-49A7-8717-E6693E1523BE}" type="presParOf" srcId="{3A08CF2A-6D30-487B-A63F-F89F473A7123}" destId="{87FB73AB-2894-447D-B971-70AD3AC0FC5D}" srcOrd="2" destOrd="0" presId="urn:microsoft.com/office/officeart/2018/2/layout/IconVerticalSolidList"/>
    <dgm:cxn modelId="{16F8AAE3-E146-45E6-9AC9-AAB8FEC14101}" type="presParOf" srcId="{3A08CF2A-6D30-487B-A63F-F89F473A7123}" destId="{1CB731FD-A7A7-46D7-ADA7-0BDDEE7A657A}" srcOrd="3" destOrd="0" presId="urn:microsoft.com/office/officeart/2018/2/layout/IconVerticalSolidList"/>
    <dgm:cxn modelId="{53DAFBF7-DED3-4CE0-81F6-63C496345C44}" type="presParOf" srcId="{6A7BC39C-BC5F-40E7-A281-1F38450E8A43}" destId="{384676F0-B973-4BCA-8CFA-15C166111E1E}" srcOrd="3" destOrd="0" presId="urn:microsoft.com/office/officeart/2018/2/layout/IconVerticalSolidList"/>
    <dgm:cxn modelId="{4F9813B0-B7CD-45E5-B67F-395835A97B1B}" type="presParOf" srcId="{6A7BC39C-BC5F-40E7-A281-1F38450E8A43}" destId="{54E027C8-652B-43E7-90B3-57E4842862B7}" srcOrd="4" destOrd="0" presId="urn:microsoft.com/office/officeart/2018/2/layout/IconVerticalSolidList"/>
    <dgm:cxn modelId="{9C9B2F6B-903F-4E12-8E4A-13833F9654FC}" type="presParOf" srcId="{54E027C8-652B-43E7-90B3-57E4842862B7}" destId="{6FE27426-CC1A-44AC-AB54-E6EB0489FD71}" srcOrd="0" destOrd="0" presId="urn:microsoft.com/office/officeart/2018/2/layout/IconVerticalSolidList"/>
    <dgm:cxn modelId="{7911B2EB-26BF-4471-BB88-957212878F5D}" type="presParOf" srcId="{54E027C8-652B-43E7-90B3-57E4842862B7}" destId="{EE5EB205-5BE4-431E-9E92-B32102041A40}" srcOrd="1" destOrd="0" presId="urn:microsoft.com/office/officeart/2018/2/layout/IconVerticalSolidList"/>
    <dgm:cxn modelId="{2060B2B8-5ABA-4DA4-A400-9E52DAC415DE}" type="presParOf" srcId="{54E027C8-652B-43E7-90B3-57E4842862B7}" destId="{42779A3F-A1FF-4352-983A-2C3B668078B1}" srcOrd="2" destOrd="0" presId="urn:microsoft.com/office/officeart/2018/2/layout/IconVerticalSolidList"/>
    <dgm:cxn modelId="{6884C007-F909-4BB8-B1D0-50C257AC389E}" type="presParOf" srcId="{54E027C8-652B-43E7-90B3-57E4842862B7}" destId="{8AE05ABE-647D-45C9-AEE6-E9879A87A10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F2879E-6570-4D68-AC3B-FCADB554958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7930337-97CF-4851-A459-5CD0B7EEE535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dirty="0"/>
            <a:t>To evaluate importance of </a:t>
          </a:r>
          <a:r>
            <a:rPr lang="en-US" sz="1400" u="sng" dirty="0"/>
            <a:t>removing duplicate rows </a:t>
          </a:r>
          <a:r>
            <a:rPr lang="en-US" sz="1400" dirty="0"/>
            <a:t>in SMALL DATASETS</a:t>
          </a:r>
        </a:p>
      </dgm:t>
    </dgm:pt>
    <dgm:pt modelId="{245F9CAD-C1F7-40FE-A1D0-B274C3E06A19}" type="parTrans" cxnId="{CD06DCCD-EF17-4AA3-BE6A-AF44FD7E450A}">
      <dgm:prSet/>
      <dgm:spPr/>
      <dgm:t>
        <a:bodyPr/>
        <a:lstStyle/>
        <a:p>
          <a:endParaRPr lang="en-US"/>
        </a:p>
      </dgm:t>
    </dgm:pt>
    <dgm:pt modelId="{932009B1-74B1-42AE-988E-0FBA510BF59C}" type="sibTrans" cxnId="{CD06DCCD-EF17-4AA3-BE6A-AF44FD7E450A}">
      <dgm:prSet/>
      <dgm:spPr/>
      <dgm:t>
        <a:bodyPr/>
        <a:lstStyle/>
        <a:p>
          <a:endParaRPr lang="en-US"/>
        </a:p>
      </dgm:t>
    </dgm:pt>
    <dgm:pt modelId="{A39DA821-6089-49A9-849C-315D99A2CAC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KE" sz="1400" dirty="0"/>
            <a:t>To measure the effect of</a:t>
          </a:r>
          <a:r>
            <a:rPr lang="en-GB" sz="1400" dirty="0"/>
            <a:t> </a:t>
          </a:r>
          <a:r>
            <a:rPr lang="en-GB" sz="1400" u="sng" dirty="0"/>
            <a:t>HANDLING OUTLIERS</a:t>
          </a:r>
          <a:endParaRPr lang="en-US" sz="1100" u="sng" dirty="0"/>
        </a:p>
        <a:p>
          <a:pPr>
            <a:lnSpc>
              <a:spcPct val="100000"/>
            </a:lnSpc>
            <a:defRPr cap="all"/>
          </a:pPr>
          <a:endParaRPr lang="en-US" sz="1100" dirty="0"/>
        </a:p>
        <a:p>
          <a:pPr>
            <a:lnSpc>
              <a:spcPct val="100000"/>
            </a:lnSpc>
            <a:defRPr cap="all"/>
          </a:pPr>
          <a:endParaRPr lang="en-US" sz="1100" dirty="0"/>
        </a:p>
        <a:p>
          <a:pPr>
            <a:lnSpc>
              <a:spcPct val="100000"/>
            </a:lnSpc>
            <a:defRPr cap="all"/>
          </a:pPr>
          <a:endParaRPr lang="en-US" sz="1100" dirty="0"/>
        </a:p>
        <a:p>
          <a:pPr>
            <a:lnSpc>
              <a:spcPct val="100000"/>
            </a:lnSpc>
            <a:defRPr cap="all"/>
          </a:pPr>
          <a:endParaRPr lang="en-US" sz="1100" dirty="0"/>
        </a:p>
      </dgm:t>
    </dgm:pt>
    <dgm:pt modelId="{76AF5121-3980-4F9E-9455-44D8D0834951}" type="parTrans" cxnId="{28D2707E-91AD-49C9-999C-DC31823AFA2B}">
      <dgm:prSet/>
      <dgm:spPr/>
      <dgm:t>
        <a:bodyPr/>
        <a:lstStyle/>
        <a:p>
          <a:endParaRPr lang="en-US"/>
        </a:p>
      </dgm:t>
    </dgm:pt>
    <dgm:pt modelId="{662D003F-A694-4C78-B4AA-B6EE42976072}" type="sibTrans" cxnId="{28D2707E-91AD-49C9-999C-DC31823AFA2B}">
      <dgm:prSet/>
      <dgm:spPr/>
      <dgm:t>
        <a:bodyPr/>
        <a:lstStyle/>
        <a:p>
          <a:endParaRPr lang="en-US"/>
        </a:p>
      </dgm:t>
    </dgm:pt>
    <dgm:pt modelId="{F26D8E75-C4FF-4D2A-8EAD-F2F4E2AB6BCA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KE" sz="1400" dirty="0"/>
            <a:t>To</a:t>
          </a:r>
          <a:r>
            <a:rPr lang="en-GB" sz="1400" dirty="0"/>
            <a:t> DISTINGUISH IMPORTANCE OF</a:t>
          </a:r>
        </a:p>
        <a:p>
          <a:pPr>
            <a:lnSpc>
              <a:spcPct val="100000"/>
            </a:lnSpc>
            <a:defRPr cap="all"/>
          </a:pPr>
          <a:r>
            <a:rPr lang="en-GB" sz="1400" u="sng" dirty="0"/>
            <a:t>HANDLING MISSING VALUES</a:t>
          </a:r>
        </a:p>
        <a:p>
          <a:pPr>
            <a:lnSpc>
              <a:spcPct val="100000"/>
            </a:lnSpc>
            <a:defRPr cap="all"/>
          </a:pPr>
          <a:r>
            <a:rPr lang="en-GB" sz="1400" dirty="0"/>
            <a:t> </a:t>
          </a:r>
          <a:endParaRPr lang="en-US" sz="1700" dirty="0"/>
        </a:p>
      </dgm:t>
    </dgm:pt>
    <dgm:pt modelId="{777E0F16-1F7D-4F07-8C10-D6510881B4C3}" type="parTrans" cxnId="{859CFCB5-5D46-4587-A359-0620EF448013}">
      <dgm:prSet/>
      <dgm:spPr/>
      <dgm:t>
        <a:bodyPr/>
        <a:lstStyle/>
        <a:p>
          <a:endParaRPr lang="en-US"/>
        </a:p>
      </dgm:t>
    </dgm:pt>
    <dgm:pt modelId="{56210F23-EA94-4F28-BDBB-C085CE73DD85}" type="sibTrans" cxnId="{859CFCB5-5D46-4587-A359-0620EF448013}">
      <dgm:prSet/>
      <dgm:spPr/>
      <dgm:t>
        <a:bodyPr/>
        <a:lstStyle/>
        <a:p>
          <a:endParaRPr lang="en-US"/>
        </a:p>
      </dgm:t>
    </dgm:pt>
    <dgm:pt modelId="{F6CE5AA1-4EAD-4971-85DD-369BA1610019}" type="pres">
      <dgm:prSet presAssocID="{20F2879E-6570-4D68-AC3B-FCADB554958C}" presName="root" presStyleCnt="0">
        <dgm:presLayoutVars>
          <dgm:dir/>
          <dgm:resizeHandles val="exact"/>
        </dgm:presLayoutVars>
      </dgm:prSet>
      <dgm:spPr/>
    </dgm:pt>
    <dgm:pt modelId="{71D1628B-A5D0-43FC-AE74-49370D57D251}" type="pres">
      <dgm:prSet presAssocID="{07930337-97CF-4851-A459-5CD0B7EEE535}" presName="compNode" presStyleCnt="0"/>
      <dgm:spPr/>
    </dgm:pt>
    <dgm:pt modelId="{09C071D7-8AA0-4D32-B49C-D8A9580C2D5C}" type="pres">
      <dgm:prSet presAssocID="{07930337-97CF-4851-A459-5CD0B7EEE535}" presName="iconBgRect" presStyleLbl="bgShp" presStyleIdx="0" presStyleCnt="3" custLinFactNeighborX="6345" custLinFactNeighborY="3040"/>
      <dgm:spPr/>
    </dgm:pt>
    <dgm:pt modelId="{040816D7-4A2F-4ECF-9C92-F3489AD9EDD9}" type="pres">
      <dgm:prSet presAssocID="{07930337-97CF-4851-A459-5CD0B7EEE53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29BA21F-BA8F-4573-BD4F-64E5B9E8FE9F}" type="pres">
      <dgm:prSet presAssocID="{07930337-97CF-4851-A459-5CD0B7EEE535}" presName="spaceRect" presStyleCnt="0"/>
      <dgm:spPr/>
    </dgm:pt>
    <dgm:pt modelId="{4BB063F4-F7DA-43EF-8DCC-3565373E8E1E}" type="pres">
      <dgm:prSet presAssocID="{07930337-97CF-4851-A459-5CD0B7EEE535}" presName="textRect" presStyleLbl="revTx" presStyleIdx="0" presStyleCnt="3">
        <dgm:presLayoutVars>
          <dgm:chMax val="1"/>
          <dgm:chPref val="1"/>
        </dgm:presLayoutVars>
      </dgm:prSet>
      <dgm:spPr/>
    </dgm:pt>
    <dgm:pt modelId="{9DD07BEE-DF6E-40EB-BA64-C475B7F0A709}" type="pres">
      <dgm:prSet presAssocID="{932009B1-74B1-42AE-988E-0FBA510BF59C}" presName="sibTrans" presStyleCnt="0"/>
      <dgm:spPr/>
    </dgm:pt>
    <dgm:pt modelId="{7649BA95-706B-4EA3-8177-4B8DF3FFEDBD}" type="pres">
      <dgm:prSet presAssocID="{A39DA821-6089-49A9-849C-315D99A2CAC7}" presName="compNode" presStyleCnt="0"/>
      <dgm:spPr/>
    </dgm:pt>
    <dgm:pt modelId="{4459E904-B7DD-4B79-AC6E-B5236F7346CD}" type="pres">
      <dgm:prSet presAssocID="{A39DA821-6089-49A9-849C-315D99A2CAC7}" presName="iconBgRect" presStyleLbl="bgShp" presStyleIdx="1" presStyleCnt="3"/>
      <dgm:spPr/>
    </dgm:pt>
    <dgm:pt modelId="{C632AB1B-6179-4E3D-BD31-39828FD368CF}" type="pres">
      <dgm:prSet presAssocID="{A39DA821-6089-49A9-849C-315D99A2CAC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AC64D99-D8C7-4695-97E0-E19A2FC25A7F}" type="pres">
      <dgm:prSet presAssocID="{A39DA821-6089-49A9-849C-315D99A2CAC7}" presName="spaceRect" presStyleCnt="0"/>
      <dgm:spPr/>
    </dgm:pt>
    <dgm:pt modelId="{9873E0E6-D914-4786-8E96-DAC5E29E47BA}" type="pres">
      <dgm:prSet presAssocID="{A39DA821-6089-49A9-849C-315D99A2CAC7}" presName="textRect" presStyleLbl="revTx" presStyleIdx="1" presStyleCnt="3">
        <dgm:presLayoutVars>
          <dgm:chMax val="1"/>
          <dgm:chPref val="1"/>
        </dgm:presLayoutVars>
      </dgm:prSet>
      <dgm:spPr/>
    </dgm:pt>
    <dgm:pt modelId="{72790B1C-4E0E-46F7-8F39-67531C4D4A7D}" type="pres">
      <dgm:prSet presAssocID="{662D003F-A694-4C78-B4AA-B6EE42976072}" presName="sibTrans" presStyleCnt="0"/>
      <dgm:spPr/>
    </dgm:pt>
    <dgm:pt modelId="{9B4401B2-3972-4762-A1F2-C56A4482C7E3}" type="pres">
      <dgm:prSet presAssocID="{F26D8E75-C4FF-4D2A-8EAD-F2F4E2AB6BCA}" presName="compNode" presStyleCnt="0"/>
      <dgm:spPr/>
    </dgm:pt>
    <dgm:pt modelId="{F70414D4-09CA-4AFC-B85C-8F0BCF5FE46F}" type="pres">
      <dgm:prSet presAssocID="{F26D8E75-C4FF-4D2A-8EAD-F2F4E2AB6BCA}" presName="iconBgRect" presStyleLbl="bgShp" presStyleIdx="2" presStyleCnt="3"/>
      <dgm:spPr/>
    </dgm:pt>
    <dgm:pt modelId="{1878B952-973D-49F3-90FC-529583B9B33A}" type="pres">
      <dgm:prSet presAssocID="{F26D8E75-C4FF-4D2A-8EAD-F2F4E2AB6BC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FC717ACB-71E7-4127-91AF-0DFBF6081F2A}" type="pres">
      <dgm:prSet presAssocID="{F26D8E75-C4FF-4D2A-8EAD-F2F4E2AB6BCA}" presName="spaceRect" presStyleCnt="0"/>
      <dgm:spPr/>
    </dgm:pt>
    <dgm:pt modelId="{004192DA-21D4-40BF-A149-F855C1C82D1C}" type="pres">
      <dgm:prSet presAssocID="{F26D8E75-C4FF-4D2A-8EAD-F2F4E2AB6BC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E5DA95F-1295-4061-9749-FEBBDA8FA404}" type="presOf" srcId="{20F2879E-6570-4D68-AC3B-FCADB554958C}" destId="{F6CE5AA1-4EAD-4971-85DD-369BA1610019}" srcOrd="0" destOrd="0" presId="urn:microsoft.com/office/officeart/2018/5/layout/IconCircleLabelList"/>
    <dgm:cxn modelId="{5557C541-3AAE-4AD3-A790-A4EA915D1E24}" type="presOf" srcId="{07930337-97CF-4851-A459-5CD0B7EEE535}" destId="{4BB063F4-F7DA-43EF-8DCC-3565373E8E1E}" srcOrd="0" destOrd="0" presId="urn:microsoft.com/office/officeart/2018/5/layout/IconCircleLabelList"/>
    <dgm:cxn modelId="{8C68F742-4570-47D2-BE3B-0951F15A4F93}" type="presOf" srcId="{F26D8E75-C4FF-4D2A-8EAD-F2F4E2AB6BCA}" destId="{004192DA-21D4-40BF-A149-F855C1C82D1C}" srcOrd="0" destOrd="0" presId="urn:microsoft.com/office/officeart/2018/5/layout/IconCircleLabelList"/>
    <dgm:cxn modelId="{5D19CA56-FF1E-4B85-A8D5-46047326DA20}" type="presOf" srcId="{A39DA821-6089-49A9-849C-315D99A2CAC7}" destId="{9873E0E6-D914-4786-8E96-DAC5E29E47BA}" srcOrd="0" destOrd="0" presId="urn:microsoft.com/office/officeart/2018/5/layout/IconCircleLabelList"/>
    <dgm:cxn modelId="{28D2707E-91AD-49C9-999C-DC31823AFA2B}" srcId="{20F2879E-6570-4D68-AC3B-FCADB554958C}" destId="{A39DA821-6089-49A9-849C-315D99A2CAC7}" srcOrd="1" destOrd="0" parTransId="{76AF5121-3980-4F9E-9455-44D8D0834951}" sibTransId="{662D003F-A694-4C78-B4AA-B6EE42976072}"/>
    <dgm:cxn modelId="{859CFCB5-5D46-4587-A359-0620EF448013}" srcId="{20F2879E-6570-4D68-AC3B-FCADB554958C}" destId="{F26D8E75-C4FF-4D2A-8EAD-F2F4E2AB6BCA}" srcOrd="2" destOrd="0" parTransId="{777E0F16-1F7D-4F07-8C10-D6510881B4C3}" sibTransId="{56210F23-EA94-4F28-BDBB-C085CE73DD85}"/>
    <dgm:cxn modelId="{CD06DCCD-EF17-4AA3-BE6A-AF44FD7E450A}" srcId="{20F2879E-6570-4D68-AC3B-FCADB554958C}" destId="{07930337-97CF-4851-A459-5CD0B7EEE535}" srcOrd="0" destOrd="0" parTransId="{245F9CAD-C1F7-40FE-A1D0-B274C3E06A19}" sibTransId="{932009B1-74B1-42AE-988E-0FBA510BF59C}"/>
    <dgm:cxn modelId="{BE704D10-51B5-4DEA-A80B-5DDCF97E7345}" type="presParOf" srcId="{F6CE5AA1-4EAD-4971-85DD-369BA1610019}" destId="{71D1628B-A5D0-43FC-AE74-49370D57D251}" srcOrd="0" destOrd="0" presId="urn:microsoft.com/office/officeart/2018/5/layout/IconCircleLabelList"/>
    <dgm:cxn modelId="{70925E0D-92B8-4B8D-9038-60D4DDF7292B}" type="presParOf" srcId="{71D1628B-A5D0-43FC-AE74-49370D57D251}" destId="{09C071D7-8AA0-4D32-B49C-D8A9580C2D5C}" srcOrd="0" destOrd="0" presId="urn:microsoft.com/office/officeart/2018/5/layout/IconCircleLabelList"/>
    <dgm:cxn modelId="{DEE5F682-4C5A-4977-9339-02D4C6590AA0}" type="presParOf" srcId="{71D1628B-A5D0-43FC-AE74-49370D57D251}" destId="{040816D7-4A2F-4ECF-9C92-F3489AD9EDD9}" srcOrd="1" destOrd="0" presId="urn:microsoft.com/office/officeart/2018/5/layout/IconCircleLabelList"/>
    <dgm:cxn modelId="{B3EB336A-2AA4-4485-AFDB-F5EC58A79A3C}" type="presParOf" srcId="{71D1628B-A5D0-43FC-AE74-49370D57D251}" destId="{229BA21F-BA8F-4573-BD4F-64E5B9E8FE9F}" srcOrd="2" destOrd="0" presId="urn:microsoft.com/office/officeart/2018/5/layout/IconCircleLabelList"/>
    <dgm:cxn modelId="{413B40AE-1034-451B-8322-1AE3B0EE3C1F}" type="presParOf" srcId="{71D1628B-A5D0-43FC-AE74-49370D57D251}" destId="{4BB063F4-F7DA-43EF-8DCC-3565373E8E1E}" srcOrd="3" destOrd="0" presId="urn:microsoft.com/office/officeart/2018/5/layout/IconCircleLabelList"/>
    <dgm:cxn modelId="{9138F958-5EF4-4C02-94F2-A19391B20C20}" type="presParOf" srcId="{F6CE5AA1-4EAD-4971-85DD-369BA1610019}" destId="{9DD07BEE-DF6E-40EB-BA64-C475B7F0A709}" srcOrd="1" destOrd="0" presId="urn:microsoft.com/office/officeart/2018/5/layout/IconCircleLabelList"/>
    <dgm:cxn modelId="{BBA53865-00A8-4CD7-869C-2B94DE23B5F2}" type="presParOf" srcId="{F6CE5AA1-4EAD-4971-85DD-369BA1610019}" destId="{7649BA95-706B-4EA3-8177-4B8DF3FFEDBD}" srcOrd="2" destOrd="0" presId="urn:microsoft.com/office/officeart/2018/5/layout/IconCircleLabelList"/>
    <dgm:cxn modelId="{A7C346FD-B7D2-4897-8189-525ADB498DE4}" type="presParOf" srcId="{7649BA95-706B-4EA3-8177-4B8DF3FFEDBD}" destId="{4459E904-B7DD-4B79-AC6E-B5236F7346CD}" srcOrd="0" destOrd="0" presId="urn:microsoft.com/office/officeart/2018/5/layout/IconCircleLabelList"/>
    <dgm:cxn modelId="{B25A4282-DBB2-4815-AD88-CD7D08D90690}" type="presParOf" srcId="{7649BA95-706B-4EA3-8177-4B8DF3FFEDBD}" destId="{C632AB1B-6179-4E3D-BD31-39828FD368CF}" srcOrd="1" destOrd="0" presId="urn:microsoft.com/office/officeart/2018/5/layout/IconCircleLabelList"/>
    <dgm:cxn modelId="{8C3C512C-3A03-4B6A-93D6-626E49C7B1FB}" type="presParOf" srcId="{7649BA95-706B-4EA3-8177-4B8DF3FFEDBD}" destId="{DAC64D99-D8C7-4695-97E0-E19A2FC25A7F}" srcOrd="2" destOrd="0" presId="urn:microsoft.com/office/officeart/2018/5/layout/IconCircleLabelList"/>
    <dgm:cxn modelId="{8BE4BC23-C666-4117-89AF-A311B2860370}" type="presParOf" srcId="{7649BA95-706B-4EA3-8177-4B8DF3FFEDBD}" destId="{9873E0E6-D914-4786-8E96-DAC5E29E47BA}" srcOrd="3" destOrd="0" presId="urn:microsoft.com/office/officeart/2018/5/layout/IconCircleLabelList"/>
    <dgm:cxn modelId="{47D51D07-5ABE-40F1-8AC7-1F8EC5D9DA20}" type="presParOf" srcId="{F6CE5AA1-4EAD-4971-85DD-369BA1610019}" destId="{72790B1C-4E0E-46F7-8F39-67531C4D4A7D}" srcOrd="3" destOrd="0" presId="urn:microsoft.com/office/officeart/2018/5/layout/IconCircleLabelList"/>
    <dgm:cxn modelId="{A85083D1-FE1D-44F0-AE6C-CD9662EC1300}" type="presParOf" srcId="{F6CE5AA1-4EAD-4971-85DD-369BA1610019}" destId="{9B4401B2-3972-4762-A1F2-C56A4482C7E3}" srcOrd="4" destOrd="0" presId="urn:microsoft.com/office/officeart/2018/5/layout/IconCircleLabelList"/>
    <dgm:cxn modelId="{5BBB6354-94F2-4DF3-B6E1-14568BC384E6}" type="presParOf" srcId="{9B4401B2-3972-4762-A1F2-C56A4482C7E3}" destId="{F70414D4-09CA-4AFC-B85C-8F0BCF5FE46F}" srcOrd="0" destOrd="0" presId="urn:microsoft.com/office/officeart/2018/5/layout/IconCircleLabelList"/>
    <dgm:cxn modelId="{426A7265-CB73-4ED5-A63E-7CC131078305}" type="presParOf" srcId="{9B4401B2-3972-4762-A1F2-C56A4482C7E3}" destId="{1878B952-973D-49F3-90FC-529583B9B33A}" srcOrd="1" destOrd="0" presId="urn:microsoft.com/office/officeart/2018/5/layout/IconCircleLabelList"/>
    <dgm:cxn modelId="{D00F8E2F-BD81-4EF8-AEC9-738AF1553120}" type="presParOf" srcId="{9B4401B2-3972-4762-A1F2-C56A4482C7E3}" destId="{FC717ACB-71E7-4127-91AF-0DFBF6081F2A}" srcOrd="2" destOrd="0" presId="urn:microsoft.com/office/officeart/2018/5/layout/IconCircleLabelList"/>
    <dgm:cxn modelId="{068EA68D-E6AB-44F8-B4DF-D49AE7495849}" type="presParOf" srcId="{9B4401B2-3972-4762-A1F2-C56A4482C7E3}" destId="{004192DA-21D4-40BF-A149-F855C1C82D1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1358F-DAF3-4DBB-BB8A-0528334F617F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005353-4C89-422D-9BA3-150ED05FBE24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C19261-8C5B-45E7-A4B8-3C804F098D75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“</a:t>
          </a:r>
          <a:r>
            <a:rPr lang="en-GB" sz="2500" b="0" kern="1200" dirty="0">
              <a:solidFill>
                <a:schemeClr val="bg1"/>
              </a:solidFill>
            </a:rPr>
            <a:t>Importance </a:t>
          </a:r>
          <a:r>
            <a:rPr lang="en-KE" sz="2500" b="0" kern="1200" dirty="0">
              <a:solidFill>
                <a:schemeClr val="bg1"/>
              </a:solidFill>
            </a:rPr>
            <a:t>of</a:t>
          </a:r>
          <a:r>
            <a:rPr lang="en-GB" sz="2500" b="0" kern="1200" dirty="0">
              <a:solidFill>
                <a:schemeClr val="bg1"/>
              </a:solidFill>
            </a:rPr>
            <a:t> </a:t>
          </a:r>
          <a:r>
            <a:rPr lang="en-KE" sz="2500" b="0" kern="1200" dirty="0">
              <a:solidFill>
                <a:schemeClr val="bg1"/>
              </a:solidFill>
            </a:rPr>
            <a:t>data cleaning</a:t>
          </a:r>
          <a:r>
            <a:rPr lang="en-GB" sz="2500" b="0" kern="1200" dirty="0">
              <a:solidFill>
                <a:schemeClr val="bg1"/>
              </a:solidFill>
            </a:rPr>
            <a:t> </a:t>
          </a:r>
          <a:r>
            <a:rPr lang="en-KE" sz="2500" b="0" kern="1200" dirty="0">
              <a:solidFill>
                <a:schemeClr val="bg1"/>
              </a:solidFill>
            </a:rPr>
            <a:t> on the quality and reliability of</a:t>
          </a:r>
          <a:r>
            <a:rPr lang="en-GB" sz="2500" b="0" kern="1200" dirty="0">
              <a:solidFill>
                <a:schemeClr val="bg1"/>
              </a:solidFill>
            </a:rPr>
            <a:t> </a:t>
          </a:r>
          <a:r>
            <a:rPr lang="en-KE" sz="2500" b="0" kern="1200" dirty="0">
              <a:solidFill>
                <a:schemeClr val="bg1"/>
              </a:solidFill>
            </a:rPr>
            <a:t>statistical analysis </a:t>
          </a:r>
          <a:r>
            <a:rPr lang="en-GB" sz="2500" b="0" kern="1200" dirty="0">
              <a:solidFill>
                <a:schemeClr val="bg1"/>
              </a:solidFill>
            </a:rPr>
            <a:t>in Kiambu County</a:t>
          </a:r>
          <a:r>
            <a:rPr lang="en-GB" sz="2500" kern="1200" dirty="0"/>
            <a:t>” - title</a:t>
          </a:r>
          <a:endParaRPr lang="en-US" sz="2500" kern="1200" dirty="0"/>
        </a:p>
      </dsp:txBody>
      <dsp:txXfrm>
        <a:off x="1435590" y="531"/>
        <a:ext cx="9080009" cy="1242935"/>
      </dsp:txXfrm>
    </dsp:sp>
    <dsp:sp modelId="{5CE9DEE1-3C10-42F8-99F8-166EE736DC81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63EBE0-46DE-4FB4-A0DA-31B4BD100715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B731FD-A7A7-46D7-ADA7-0BDDEE7A657A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u="sng" kern="1200" dirty="0"/>
            <a:t>Main Objective</a:t>
          </a:r>
          <a:endParaRPr lang="en-US" sz="2500" b="1" kern="1200" dirty="0"/>
        </a:p>
      </dsp:txBody>
      <dsp:txXfrm>
        <a:off x="1435590" y="1554201"/>
        <a:ext cx="9080009" cy="1242935"/>
      </dsp:txXfrm>
    </dsp:sp>
    <dsp:sp modelId="{6FE27426-CC1A-44AC-AB54-E6EB0489FD71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5EB205-5BE4-431E-9E92-B32102041A40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E05ABE-647D-45C9-AEE6-E9879A87A100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To determine the </a:t>
          </a:r>
          <a:r>
            <a:rPr lang="en-GB" sz="2500" b="0" kern="1200" dirty="0">
              <a:solidFill>
                <a:schemeClr val="bg1"/>
              </a:solidFill>
            </a:rPr>
            <a:t>Importance </a:t>
          </a:r>
          <a:r>
            <a:rPr lang="en-KE" sz="2500" b="0" kern="1200" dirty="0">
              <a:solidFill>
                <a:schemeClr val="bg1"/>
              </a:solidFill>
            </a:rPr>
            <a:t>of</a:t>
          </a:r>
          <a:r>
            <a:rPr lang="en-GB" sz="2500" b="0" kern="1200" dirty="0">
              <a:solidFill>
                <a:schemeClr val="bg1"/>
              </a:solidFill>
            </a:rPr>
            <a:t> </a:t>
          </a:r>
          <a:r>
            <a:rPr lang="en-KE" sz="2500" b="0" kern="1200" dirty="0">
              <a:solidFill>
                <a:schemeClr val="bg1"/>
              </a:solidFill>
            </a:rPr>
            <a:t>data cleaning</a:t>
          </a:r>
          <a:r>
            <a:rPr lang="en-GB" sz="2500" b="0" kern="1200" dirty="0">
              <a:solidFill>
                <a:schemeClr val="bg1"/>
              </a:solidFill>
            </a:rPr>
            <a:t> </a:t>
          </a:r>
          <a:r>
            <a:rPr lang="en-KE" sz="2500" b="0" kern="1200" dirty="0">
              <a:solidFill>
                <a:schemeClr val="bg1"/>
              </a:solidFill>
            </a:rPr>
            <a:t> on the quality and reliability of</a:t>
          </a:r>
          <a:r>
            <a:rPr lang="en-GB" sz="2500" b="0" kern="1200" dirty="0">
              <a:solidFill>
                <a:schemeClr val="bg1"/>
              </a:solidFill>
            </a:rPr>
            <a:t> </a:t>
          </a:r>
          <a:r>
            <a:rPr lang="en-KE" sz="2500" b="0" kern="1200" dirty="0">
              <a:solidFill>
                <a:schemeClr val="bg1"/>
              </a:solidFill>
            </a:rPr>
            <a:t>statistical analysis </a:t>
          </a:r>
          <a:r>
            <a:rPr lang="en-GB" sz="2500" b="0" kern="1200" dirty="0">
              <a:solidFill>
                <a:schemeClr val="bg1"/>
              </a:solidFill>
            </a:rPr>
            <a:t>in Kiambu County</a:t>
          </a:r>
          <a:endParaRPr lang="en-US" sz="2500" b="0" kern="1200" dirty="0"/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C071D7-8AA0-4D32-B49C-D8A9580C2D5C}">
      <dsp:nvSpPr>
        <dsp:cNvPr id="0" name=""/>
        <dsp:cNvSpPr/>
      </dsp:nvSpPr>
      <dsp:spPr>
        <a:xfrm>
          <a:off x="798792" y="309289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0816D7-4A2F-4ECF-9C92-F3489AD9EDD9}">
      <dsp:nvSpPr>
        <dsp:cNvPr id="0" name=""/>
        <dsp:cNvSpPr/>
      </dsp:nvSpPr>
      <dsp:spPr>
        <a:xfrm>
          <a:off x="1081237" y="65410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B063F4-F7DA-43EF-8DCC-3565373E8E1E}">
      <dsp:nvSpPr>
        <dsp:cNvPr id="0" name=""/>
        <dsp:cNvSpPr/>
      </dsp:nvSpPr>
      <dsp:spPr>
        <a:xfrm>
          <a:off x="75768" y="2726919"/>
          <a:ext cx="3093750" cy="137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To evaluate importance of </a:t>
          </a:r>
          <a:r>
            <a:rPr lang="en-US" sz="1400" u="sng" kern="1200" dirty="0"/>
            <a:t>removing duplicate rows </a:t>
          </a:r>
          <a:r>
            <a:rPr lang="en-US" sz="1400" kern="1200" dirty="0"/>
            <a:t>in SMALL DATASETS</a:t>
          </a:r>
        </a:p>
      </dsp:txBody>
      <dsp:txXfrm>
        <a:off x="75768" y="2726919"/>
        <a:ext cx="3093750" cy="1372500"/>
      </dsp:txXfrm>
    </dsp:sp>
    <dsp:sp modelId="{4459E904-B7DD-4B79-AC6E-B5236F7346CD}">
      <dsp:nvSpPr>
        <dsp:cNvPr id="0" name=""/>
        <dsp:cNvSpPr/>
      </dsp:nvSpPr>
      <dsp:spPr>
        <a:xfrm>
          <a:off x="4314206" y="251918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32AB1B-6179-4E3D-BD31-39828FD368CF}">
      <dsp:nvSpPr>
        <dsp:cNvPr id="0" name=""/>
        <dsp:cNvSpPr/>
      </dsp:nvSpPr>
      <dsp:spPr>
        <a:xfrm>
          <a:off x="4716393" y="65410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3E0E6-D914-4786-8E96-DAC5E29E47BA}">
      <dsp:nvSpPr>
        <dsp:cNvPr id="0" name=""/>
        <dsp:cNvSpPr/>
      </dsp:nvSpPr>
      <dsp:spPr>
        <a:xfrm>
          <a:off x="3710925" y="2726919"/>
          <a:ext cx="3093750" cy="137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KE" sz="1400" kern="1200" dirty="0"/>
            <a:t>To measure the effect of</a:t>
          </a:r>
          <a:r>
            <a:rPr lang="en-GB" sz="1400" kern="1200" dirty="0"/>
            <a:t> </a:t>
          </a:r>
          <a:r>
            <a:rPr lang="en-GB" sz="1400" u="sng" kern="1200" dirty="0"/>
            <a:t>HANDLING OUTLIERS</a:t>
          </a:r>
          <a:endParaRPr lang="en-US" sz="1100" u="sng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1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1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1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100" kern="1200" dirty="0"/>
        </a:p>
      </dsp:txBody>
      <dsp:txXfrm>
        <a:off x="3710925" y="2726919"/>
        <a:ext cx="3093750" cy="1372500"/>
      </dsp:txXfrm>
    </dsp:sp>
    <dsp:sp modelId="{F70414D4-09CA-4AFC-B85C-8F0BCF5FE46F}">
      <dsp:nvSpPr>
        <dsp:cNvPr id="0" name=""/>
        <dsp:cNvSpPr/>
      </dsp:nvSpPr>
      <dsp:spPr>
        <a:xfrm>
          <a:off x="7949362" y="251918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78B952-973D-49F3-90FC-529583B9B33A}">
      <dsp:nvSpPr>
        <dsp:cNvPr id="0" name=""/>
        <dsp:cNvSpPr/>
      </dsp:nvSpPr>
      <dsp:spPr>
        <a:xfrm>
          <a:off x="8351550" y="65410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4192DA-21D4-40BF-A149-F855C1C82D1C}">
      <dsp:nvSpPr>
        <dsp:cNvPr id="0" name=""/>
        <dsp:cNvSpPr/>
      </dsp:nvSpPr>
      <dsp:spPr>
        <a:xfrm>
          <a:off x="7346081" y="2726919"/>
          <a:ext cx="3093750" cy="137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KE" sz="1400" kern="1200" dirty="0"/>
            <a:t>To</a:t>
          </a:r>
          <a:r>
            <a:rPr lang="en-GB" sz="1400" kern="1200" dirty="0"/>
            <a:t> DISTINGUISH IMPORTANCE OF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u="sng" kern="1200" dirty="0"/>
            <a:t>HANDLING MISSING VALUES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kern="1200" dirty="0"/>
            <a:t> </a:t>
          </a:r>
          <a:endParaRPr lang="en-US" sz="1700" kern="1200" dirty="0"/>
        </a:p>
      </dsp:txBody>
      <dsp:txXfrm>
        <a:off x="7346081" y="2726919"/>
        <a:ext cx="3093750" cy="13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7889D1-28B1-41F1-8003-166EAD40DDFC}" type="datetimeFigureOut">
              <a:rPr lang="en-KE" smtClean="0"/>
              <a:t>07/07/2026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A7541-546F-4BB4-B8AF-B58533C259A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50664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A7541-546F-4BB4-B8AF-B58533C259AC}" type="slidenum">
              <a:rPr lang="en-KE" smtClean="0"/>
              <a:t>8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05483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B6010-6722-D2A2-34AF-5E0CD2553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82815-EA79-6496-5CCF-A16DF335E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690B9-CFD3-40D3-DDFB-9687FD4FB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2CC80-CDC4-4378-92D7-8AD005EB6D32}" type="datetimeFigureOut">
              <a:rPr lang="en-KE" smtClean="0"/>
              <a:t>07/07/2026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5C560-8A9E-CF45-3C3D-106B64E30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BB702-986E-37EE-0681-E7513B3FA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F1F5E-2A10-490F-AF02-54F5B6C0E85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608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350D-DADF-E56A-0FB8-E444903C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662D3-5D92-4087-F84A-F8DFC12CD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D253-7E14-9ED7-0057-3A28F7970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2CC80-CDC4-4378-92D7-8AD005EB6D32}" type="datetimeFigureOut">
              <a:rPr lang="en-KE" smtClean="0"/>
              <a:t>07/07/2026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87B43-2A5B-6DB5-1FE1-622A58958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E18B1-2508-C001-3C85-A23CFC01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F1F5E-2A10-490F-AF02-54F5B6C0E85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0191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3D9D9-F4A2-C9BA-4A0F-A13D06A1F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98273-EA75-C682-97E2-4057EFCC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4CEBD-1F5B-8766-06C3-2F1D17883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2CC80-CDC4-4378-92D7-8AD005EB6D32}" type="datetimeFigureOut">
              <a:rPr lang="en-KE" smtClean="0"/>
              <a:t>07/07/2026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5F295-B6D1-985D-496F-E9793DF9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28F86-35A2-8A42-FAC3-F225091FE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F1F5E-2A10-490F-AF02-54F5B6C0E85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418294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30C3A-B28D-8A3C-7811-7D19DDF61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D45D-170A-DE63-3DA6-8FDAF8D9C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AD4DA-58F7-9738-0448-EC0E64E70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1E7B1-D786-0CE6-14DF-E367FBA07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2CC80-CDC4-4378-92D7-8AD005EB6D32}" type="datetimeFigureOut">
              <a:rPr lang="en-KE" smtClean="0"/>
              <a:t>07/07/2026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8E428-2DCE-586A-4729-62F1DA31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C506A-06ED-AAB4-D56C-650E39A98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F1F5E-2A10-490F-AF02-54F5B6C0E85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992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7ECC-FD2F-E2EB-DA1D-C1B710C14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84194-701B-2E43-DEB0-0E68D2BA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2BD66-025E-D534-26FB-70ADC1005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1F981E-2D3B-4D8B-BF7F-1BC910845F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E778B6-923E-0483-3316-E2846C87B2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C44DF3-0B47-3372-1536-617E551F9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2CC80-CDC4-4378-92D7-8AD005EB6D32}" type="datetimeFigureOut">
              <a:rPr lang="en-KE" smtClean="0"/>
              <a:t>07/07/2026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D72920-3DFB-653C-9305-9C908A43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B46B22-C51B-9CA2-FC4C-130D3549E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F1F5E-2A10-490F-AF02-54F5B6C0E85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043638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4A3A-EB13-C13C-85DE-7C232CBF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9CB59-5F29-8DD0-B6C9-5CF529E7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2CC80-CDC4-4378-92D7-8AD005EB6D32}" type="datetimeFigureOut">
              <a:rPr lang="en-KE" smtClean="0"/>
              <a:t>07/07/2026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62F4C7-12BA-B3D7-40B3-56657100E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E746E0-B72C-16D8-A668-84E37F4E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F1F5E-2A10-490F-AF02-54F5B6C0E85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93628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2AA1EE-7C19-CB4F-94BA-FC4814E9B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2CC80-CDC4-4378-92D7-8AD005EB6D32}" type="datetimeFigureOut">
              <a:rPr lang="en-KE" smtClean="0"/>
              <a:t>07/07/2026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8C9161-0D68-FE81-0251-CA442A1A2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2E690-73A7-20DB-4644-01E9A951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F1F5E-2A10-490F-AF02-54F5B6C0E85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39548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DC47B-3506-9286-241A-8CEDB6E22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01E47-DF0C-AE90-6F12-767851C4E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54CA5-8EC0-131D-6B9E-C54322F06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6D171-AA09-D8F2-9C4B-FAC438D4D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2CC80-CDC4-4378-92D7-8AD005EB6D32}" type="datetimeFigureOut">
              <a:rPr lang="en-KE" smtClean="0"/>
              <a:t>07/07/2026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A5561-27DD-141C-77A1-7D003CE3E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62EEA-6DC6-712F-870C-9A6578AE2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F1F5E-2A10-490F-AF02-54F5B6C0E85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50042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E731-ADA9-F228-3973-5877D0972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ADD46A-82B5-CD90-514E-408891830F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D1E32-6232-A28D-DE1B-F754B8D8C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22A2E-AF7F-9820-AE72-1C1C3A9F2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2CC80-CDC4-4378-92D7-8AD005EB6D32}" type="datetimeFigureOut">
              <a:rPr lang="en-KE" smtClean="0"/>
              <a:t>07/07/2026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AACA9-45BD-A465-2321-E653C6758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F58A0-8A52-B8A2-0434-1E661D55B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F1F5E-2A10-490F-AF02-54F5B6C0E85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57148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F6D13-2CFD-ACC0-78C7-F48844BD8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39A86-78A4-60E3-4784-739BDD604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D237B-7F9C-8FA4-26AB-38F7F9F1E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2CC80-CDC4-4378-92D7-8AD005EB6D32}" type="datetimeFigureOut">
              <a:rPr lang="en-KE" smtClean="0"/>
              <a:t>07/07/2026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69F9C-1D4C-93BE-FE74-E0AAD556C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38CF4-42B1-3A6F-AD3C-5DAFCFA68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F1F5E-2A10-490F-AF02-54F5B6C0E85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9530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28D5E0-6F39-6C52-1C1E-9F9A601BCB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C3637-52DC-2482-7C5D-518C48E7D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6CEE0-FC48-E032-10BE-A948B3555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2CC80-CDC4-4378-92D7-8AD005EB6D32}" type="datetimeFigureOut">
              <a:rPr lang="en-KE" smtClean="0"/>
              <a:t>07/07/2026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78EF4-6F5B-311F-E316-6AA41A8E1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4F791-EAB8-0416-27C5-2F1BA4420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F1F5E-2A10-490F-AF02-54F5B6C0E85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559947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453B11-F1E7-4DE7-D879-7F37FA7AF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BCB96-3D59-E651-8182-375EC5BD5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344A6-6743-DDDE-6A5C-160B1DA8D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2CC80-CDC4-4378-92D7-8AD005EB6D32}" type="datetimeFigureOut">
              <a:rPr lang="en-KE" smtClean="0"/>
              <a:t>07/07/2026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F2D99-FBDF-6CBA-7F26-899000066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9FDEA-E114-90F9-0722-476C7AEB6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0F1F5E-2A10-490F-AF02-54F5B6C0E85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3453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airobinews.co.ke/knbs-outlines-mandate-data-quality-standards-in-economic-survey/" TargetMode="External"/><Relationship Id="rId2" Type="http://schemas.openxmlformats.org/officeDocument/2006/relationships/hyperlink" Target="https://www.ibm.com/think/topics/data-clean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1D34A1-9000-B45D-8628-14C19BFA9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Research Proposal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3E1E870-8679-F64C-708F-3B4867561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32313" y="6356350"/>
            <a:ext cx="47210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Natasha Gicheha - 675691</a:t>
            </a:r>
          </a:p>
        </p:txBody>
      </p:sp>
    </p:spTree>
    <p:extLst>
      <p:ext uri="{BB962C8B-B14F-4D97-AF65-F5344CB8AC3E}">
        <p14:creationId xmlns:p14="http://schemas.microsoft.com/office/powerpoint/2010/main" val="1273053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FF3748-1039-2C25-3268-EC7F226C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Research Problem</a:t>
            </a:r>
            <a:endParaRPr lang="en-KE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490F7-1C15-9F58-75A0-499C8CC69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KE" dirty="0"/>
              <a:t>What is the </a:t>
            </a:r>
            <a:r>
              <a:rPr lang="en-GB" dirty="0"/>
              <a:t>importance </a:t>
            </a:r>
            <a:r>
              <a:rPr lang="en-KE" dirty="0"/>
              <a:t>of</a:t>
            </a:r>
            <a:r>
              <a:rPr lang="en-GB" dirty="0"/>
              <a:t> </a:t>
            </a:r>
            <a:r>
              <a:rPr lang="en-KE" dirty="0"/>
              <a:t>data cleaning</a:t>
            </a:r>
            <a:r>
              <a:rPr lang="en-GB" dirty="0"/>
              <a:t> </a:t>
            </a:r>
            <a:r>
              <a:rPr lang="en-KE" dirty="0"/>
              <a:t>on the quality and reliability of</a:t>
            </a:r>
            <a:r>
              <a:rPr lang="en-GB" dirty="0"/>
              <a:t> </a:t>
            </a:r>
            <a:r>
              <a:rPr lang="en-KE" dirty="0"/>
              <a:t>statistical analysis </a:t>
            </a:r>
            <a:r>
              <a:rPr lang="en-GB" dirty="0"/>
              <a:t>in Kiambu County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707737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6260CF-88C4-C725-681D-ED6EEC40D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Title</a:t>
            </a:r>
            <a:endParaRPr lang="en-KE" sz="40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7947FF-386A-A263-11E1-589D22447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324912"/>
            <a:ext cx="4646905" cy="45330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Importance </a:t>
            </a:r>
            <a:r>
              <a:rPr lang="en-KE" sz="2400" b="1" dirty="0">
                <a:solidFill>
                  <a:schemeClr val="accent2">
                    <a:lumMod val="75000"/>
                  </a:schemeClr>
                </a:solidFill>
              </a:rPr>
              <a:t>of</a:t>
            </a:r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KE" sz="2400" b="1" dirty="0">
                <a:solidFill>
                  <a:schemeClr val="accent2">
                    <a:lumMod val="75000"/>
                  </a:schemeClr>
                </a:solidFill>
              </a:rPr>
              <a:t>data cleaning</a:t>
            </a:r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KE" sz="2400" b="1" dirty="0">
                <a:solidFill>
                  <a:schemeClr val="accent2">
                    <a:lumMod val="75000"/>
                  </a:schemeClr>
                </a:solidFill>
              </a:rPr>
              <a:t> on the quality and reliability of</a:t>
            </a:r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KE" sz="2400" b="1" dirty="0">
                <a:solidFill>
                  <a:schemeClr val="accent2">
                    <a:lumMod val="75000"/>
                  </a:schemeClr>
                </a:solidFill>
              </a:rPr>
              <a:t>statistical analysis </a:t>
            </a:r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in Kiambu County</a:t>
            </a:r>
          </a:p>
          <a:p>
            <a:pPr marL="0" indent="0">
              <a:buNone/>
            </a:pPr>
            <a:endParaRPr lang="en-GB" sz="1900" dirty="0"/>
          </a:p>
          <a:p>
            <a:pPr marL="0" indent="0">
              <a:buNone/>
            </a:pPr>
            <a:r>
              <a:rPr lang="en-GB" sz="1900" dirty="0"/>
              <a:t>Independent Variable: </a:t>
            </a:r>
            <a:r>
              <a:rPr lang="en-KE" sz="1900" dirty="0"/>
              <a:t>Data Cleaning</a:t>
            </a:r>
            <a:r>
              <a:rPr lang="en-GB" sz="1900" dirty="0"/>
              <a:t> </a:t>
            </a:r>
            <a:endParaRPr lang="en-KE" sz="1900" dirty="0"/>
          </a:p>
          <a:p>
            <a:pPr marL="0" indent="0">
              <a:buNone/>
            </a:pPr>
            <a:r>
              <a:rPr lang="en-GB" sz="1900" dirty="0"/>
              <a:t>Dependent Variable: </a:t>
            </a:r>
            <a:r>
              <a:rPr lang="en-KE" sz="1900" dirty="0"/>
              <a:t>Quality and Reliability of Statistical Analysis</a:t>
            </a:r>
          </a:p>
          <a:p>
            <a:endParaRPr lang="en-KE" sz="1900" dirty="0"/>
          </a:p>
        </p:txBody>
      </p:sp>
      <p:pic>
        <p:nvPicPr>
          <p:cNvPr id="7" name="Picture 6" descr="Digital financial graph">
            <a:extLst>
              <a:ext uri="{FF2B5EF4-FFF2-40B4-BE49-F238E27FC236}">
                <a16:creationId xmlns:a16="http://schemas.microsoft.com/office/drawing/2014/main" id="{297FFE29-A650-B8CB-2BA3-F2FD235469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15" r="1732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47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AFD79C-C5DE-D97C-DFEF-05EF42288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KE" sz="4000">
                <a:effectLst/>
              </a:rPr>
              <a:t>Background Information</a:t>
            </a:r>
            <a:endParaRPr lang="en-K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ABCF6-ABB7-0F77-3DD4-7D0095121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481943"/>
            <a:ext cx="4646905" cy="4376058"/>
          </a:xfrm>
        </p:spPr>
        <p:txBody>
          <a:bodyPr anchor="ctr">
            <a:normAutofit/>
          </a:bodyPr>
          <a:lstStyle/>
          <a:p>
            <a:pPr fontAlgn="t"/>
            <a:endParaRPr lang="en-GB" sz="1400" b="1" dirty="0"/>
          </a:p>
          <a:p>
            <a:pPr fontAlgn="t"/>
            <a:r>
              <a:rPr lang="en-KE" sz="1400" b="1" dirty="0"/>
              <a:t>Data cleaning</a:t>
            </a:r>
            <a:r>
              <a:rPr lang="en-KE" sz="1400" dirty="0"/>
              <a:t> is the process of correcting  errors like missing values, duplicates, and inconsistencies </a:t>
            </a:r>
            <a:r>
              <a:rPr lang="en-GB" sz="1400" dirty="0"/>
              <a:t>in a dataset </a:t>
            </a:r>
            <a:r>
              <a:rPr lang="en-KE" sz="1400" dirty="0"/>
              <a:t>to make data accurate and consistent </a:t>
            </a:r>
            <a:r>
              <a:rPr lang="en-KE" sz="1400" dirty="0">
                <a:hlinkClick r:id="rId2"/>
              </a:rPr>
              <a:t>[ibm.com]</a:t>
            </a:r>
            <a:endParaRPr lang="en-KE" sz="1400" dirty="0"/>
          </a:p>
          <a:p>
            <a:pPr fontAlgn="t"/>
            <a:r>
              <a:rPr lang="en-KE" sz="1400" b="1" dirty="0"/>
              <a:t>Statistical analysis</a:t>
            </a:r>
            <a:r>
              <a:rPr lang="en-KE" sz="1400" dirty="0"/>
              <a:t> is used to produce important indicators (e.g., census, GDP) for planning and decision-making</a:t>
            </a:r>
            <a:r>
              <a:rPr lang="en-GB" sz="1400" dirty="0"/>
              <a:t> in counties.</a:t>
            </a:r>
            <a:r>
              <a:rPr lang="en-KE" sz="1400" dirty="0"/>
              <a:t> </a:t>
            </a:r>
            <a:r>
              <a:rPr lang="en-KE" sz="1400" dirty="0">
                <a:hlinkClick r:id="rId3"/>
              </a:rPr>
              <a:t>[nairobinews.co.ke]</a:t>
            </a:r>
            <a:endParaRPr lang="en-GB" sz="1400" dirty="0"/>
          </a:p>
          <a:p>
            <a:endParaRPr lang="en-KE" sz="1100" dirty="0"/>
          </a:p>
        </p:txBody>
      </p:sp>
      <p:pic>
        <p:nvPicPr>
          <p:cNvPr id="5" name="Picture 4" descr="hand holding ball">
            <a:extLst>
              <a:ext uri="{FF2B5EF4-FFF2-40B4-BE49-F238E27FC236}">
                <a16:creationId xmlns:a16="http://schemas.microsoft.com/office/drawing/2014/main" id="{7508177D-D923-D935-A656-4490334E6F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288" r="1853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74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5F064-583C-36C4-C1E8-4D6BE2980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Identifying </a:t>
            </a:r>
            <a:r>
              <a:rPr lang="en-KE">
                <a:solidFill>
                  <a:srgbClr val="FFFFFF"/>
                </a:solidFill>
              </a:rPr>
              <a:t>Problem </a:t>
            </a:r>
            <a:r>
              <a:rPr lang="en-GB">
                <a:solidFill>
                  <a:srgbClr val="FFFFFF"/>
                </a:solidFill>
              </a:rPr>
              <a:t>S</a:t>
            </a:r>
            <a:r>
              <a:rPr lang="en-KE">
                <a:solidFill>
                  <a:srgbClr val="FFFFFF"/>
                </a:solidFill>
              </a:rPr>
              <a:t>tatement</a:t>
            </a:r>
            <a:br>
              <a:rPr lang="en-KE">
                <a:solidFill>
                  <a:srgbClr val="FFFFFF"/>
                </a:solidFill>
              </a:rPr>
            </a:br>
            <a:endParaRPr lang="en-KE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F89E1-D4BA-1FFA-A6DE-F8AD33976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KE" sz="2000" dirty="0"/>
              <a:t>What is the </a:t>
            </a:r>
            <a:r>
              <a:rPr lang="en-GB" sz="2000" dirty="0"/>
              <a:t>importance </a:t>
            </a:r>
            <a:r>
              <a:rPr lang="en-KE" sz="2000" dirty="0"/>
              <a:t>of data cleaning </a:t>
            </a:r>
            <a:r>
              <a:rPr lang="en-GB" sz="2000" dirty="0"/>
              <a:t>techniques </a:t>
            </a:r>
            <a:r>
              <a:rPr lang="en-KE" sz="2000" dirty="0"/>
              <a:t>on the quality and reliability statistical analysis </a:t>
            </a:r>
            <a:r>
              <a:rPr lang="en-GB" sz="2000" dirty="0"/>
              <a:t>results in the Results</a:t>
            </a:r>
            <a:r>
              <a:rPr lang="en-KE" sz="2000" dirty="0"/>
              <a:t> </a:t>
            </a:r>
            <a:r>
              <a:rPr lang="en-GB" sz="2000" dirty="0"/>
              <a:t>in the Economic Sector using </a:t>
            </a:r>
            <a:r>
              <a:rPr lang="en-KE" sz="2000" dirty="0"/>
              <a:t>R</a:t>
            </a:r>
            <a:r>
              <a:rPr lang="en-GB" sz="2000" dirty="0"/>
              <a:t> programming language</a:t>
            </a:r>
            <a:r>
              <a:rPr lang="en-KE" sz="2000" dirty="0"/>
              <a:t>?</a:t>
            </a:r>
            <a:r>
              <a:rPr lang="en-GB" sz="2000" dirty="0"/>
              <a:t> – Research problem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Questions</a:t>
            </a:r>
          </a:p>
          <a:p>
            <a:pPr fontAlgn="t"/>
            <a:r>
              <a:rPr lang="en-KE" sz="2000" b="1" dirty="0"/>
              <a:t>What is the main issue?</a:t>
            </a:r>
            <a:br>
              <a:rPr lang="en-KE" sz="2000" dirty="0"/>
            </a:br>
            <a:r>
              <a:rPr lang="en-KE" sz="2000" dirty="0"/>
              <a:t>→ Does poor data cleaning affect statistical results?</a:t>
            </a:r>
          </a:p>
          <a:p>
            <a:pPr fontAlgn="t"/>
            <a:r>
              <a:rPr lang="en-KE" sz="2000" b="1" dirty="0"/>
              <a:t>Why is this an issue?</a:t>
            </a:r>
            <a:br>
              <a:rPr lang="en-KE" sz="2000" dirty="0"/>
            </a:br>
            <a:r>
              <a:rPr lang="en-KE" sz="2000" dirty="0"/>
              <a:t>→ Does it reduce quality and reliability of results?</a:t>
            </a:r>
          </a:p>
          <a:p>
            <a:pPr fontAlgn="t"/>
            <a:r>
              <a:rPr lang="en-KE" sz="2000" b="1" dirty="0"/>
              <a:t>What needs to be investigated?</a:t>
            </a:r>
            <a:br>
              <a:rPr lang="en-KE" sz="2000" dirty="0"/>
            </a:br>
            <a:r>
              <a:rPr lang="en-KE" sz="2000" dirty="0"/>
              <a:t>→ The</a:t>
            </a:r>
            <a:r>
              <a:rPr lang="en-GB" sz="2000" dirty="0"/>
              <a:t> importance </a:t>
            </a:r>
            <a:r>
              <a:rPr lang="en-KE" sz="2000" dirty="0"/>
              <a:t>of data cleaning on </a:t>
            </a:r>
            <a:r>
              <a:rPr lang="en-GB" sz="2000" dirty="0"/>
              <a:t>statistical analysis </a:t>
            </a:r>
            <a:r>
              <a:rPr lang="en-KE" sz="2000" dirty="0"/>
              <a:t>results</a:t>
            </a:r>
          </a:p>
          <a:p>
            <a:pPr marL="0" indent="0">
              <a:buNone/>
            </a:pPr>
            <a:endParaRPr lang="en-KE" sz="2000" dirty="0"/>
          </a:p>
          <a:p>
            <a:endParaRPr lang="en-KE" sz="2000" dirty="0"/>
          </a:p>
        </p:txBody>
      </p:sp>
    </p:spTree>
    <p:extLst>
      <p:ext uri="{BB962C8B-B14F-4D97-AF65-F5344CB8AC3E}">
        <p14:creationId xmlns:p14="http://schemas.microsoft.com/office/powerpoint/2010/main" val="459938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5C749C-A0D0-F1AA-AF3E-C8DF852BC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KE">
                <a:solidFill>
                  <a:srgbClr val="FFFFFF"/>
                </a:solidFill>
              </a:rPr>
              <a:t>Problem Statement</a:t>
            </a:r>
            <a:br>
              <a:rPr lang="en-KE">
                <a:solidFill>
                  <a:srgbClr val="FFFFFF"/>
                </a:solidFill>
              </a:rPr>
            </a:br>
            <a:endParaRPr lang="en-KE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BA6C3-E3B6-6C15-3C4C-46752AE19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-1"/>
            <a:ext cx="5257799" cy="6760029"/>
          </a:xfrm>
        </p:spPr>
        <p:txBody>
          <a:bodyPr anchor="t">
            <a:normAutofit/>
          </a:bodyPr>
          <a:lstStyle/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Inadequate </a:t>
            </a:r>
            <a:r>
              <a:rPr lang="en-KE" sz="2000" dirty="0"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 techniques</a:t>
            </a:r>
            <a:r>
              <a:rPr lang="en-KE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KE" sz="2000" dirty="0">
                <a:ea typeface="Calibri" panose="020F0502020204030204" pitchFamily="34" charset="0"/>
                <a:cs typeface="Calibri" panose="020F0502020204030204" pitchFamily="34" charset="0"/>
              </a:rPr>
              <a:t>R programming</a:t>
            </a: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 language </a:t>
            </a:r>
            <a:r>
              <a:rPr lang="en-KE" sz="2000" dirty="0">
                <a:ea typeface="Calibri" panose="020F0502020204030204" pitchFamily="34" charset="0"/>
                <a:cs typeface="Calibri" panose="020F0502020204030204" pitchFamily="34" charset="0"/>
              </a:rPr>
              <a:t>may lead to poor quality and unreliable statistical analysis results</a:t>
            </a:r>
            <a:r>
              <a:rPr lang="en-GB" sz="2000" dirty="0"/>
              <a:t> in the Economic Sector</a:t>
            </a:r>
            <a:r>
              <a:rPr lang="en-KE" sz="2000" dirty="0">
                <a:ea typeface="Calibri" panose="020F0502020204030204" pitchFamily="34" charset="0"/>
                <a:cs typeface="Calibri" panose="020F0502020204030204" pitchFamily="34" charset="0"/>
              </a:rPr>
              <a:t>, creating the need to examine how data cleaning</a:t>
            </a: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 techniques</a:t>
            </a:r>
            <a:r>
              <a:rPr lang="en-KE" sz="2000" dirty="0">
                <a:ea typeface="Calibri" panose="020F0502020204030204" pitchFamily="34" charset="0"/>
                <a:cs typeface="Calibri" panose="020F0502020204030204" pitchFamily="34" charset="0"/>
              </a:rPr>
              <a:t> improve</a:t>
            </a: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 statistical findings</a:t>
            </a:r>
            <a:r>
              <a:rPr lang="en-K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KE" sz="1600" dirty="0"/>
          </a:p>
          <a:p>
            <a:endParaRPr lang="en-KE" sz="11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9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32BF3-602D-B0B4-B792-C788ED6E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</a:rPr>
              <a:t>Main Objective</a:t>
            </a:r>
            <a:endParaRPr lang="en-KE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FCAAAFE8-8244-1297-0FE7-F92A2BE349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836012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840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1EB61-4F12-25D3-C1EF-47CA1A76A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</a:rPr>
              <a:t>More Objectives</a:t>
            </a:r>
            <a:endParaRPr lang="en-KE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8F90BD-D61B-E548-DB6D-D5CA34F4A5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2198677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8189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02d864b-c68e-42fc-9fc3-340c480090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C56ACB2D267F43A7C897B226DD1D15" ma:contentTypeVersion="6" ma:contentTypeDescription="Create a new document." ma:contentTypeScope="" ma:versionID="37d7bbc648754e942e63e0eba9e370da">
  <xsd:schema xmlns:xsd="http://www.w3.org/2001/XMLSchema" xmlns:xs="http://www.w3.org/2001/XMLSchema" xmlns:p="http://schemas.microsoft.com/office/2006/metadata/properties" xmlns:ns3="a02d864b-c68e-42fc-9fc3-340c4800903f" targetNamespace="http://schemas.microsoft.com/office/2006/metadata/properties" ma:root="true" ma:fieldsID="29a048fe164bb9df61dcdeaabadec567" ns3:_="">
    <xsd:import namespace="a02d864b-c68e-42fc-9fc3-340c4800903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2d864b-c68e-42fc-9fc3-340c4800903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C31B83-5C9B-4360-96CD-DDC0E152EE03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elements/1.1/"/>
    <ds:schemaRef ds:uri="a02d864b-c68e-42fc-9fc3-340c4800903f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30EC6FC-4134-4418-A6BE-F4B6255B88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2d864b-c68e-42fc-9fc3-340c480090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2636FB9-1C64-4457-95EF-21C26E7BEA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315</Words>
  <Application>Microsoft Office PowerPoint</Application>
  <PresentationFormat>Widescreen</PresentationFormat>
  <Paragraphs>40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 Research Proposal</vt:lpstr>
      <vt:lpstr>Research Problem</vt:lpstr>
      <vt:lpstr>Title</vt:lpstr>
      <vt:lpstr>Background Information</vt:lpstr>
      <vt:lpstr>Identifying Problem Statement </vt:lpstr>
      <vt:lpstr>Problem Statement </vt:lpstr>
      <vt:lpstr>Main Objective</vt:lpstr>
      <vt:lpstr>More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Natasha W. Gicheha</dc:creator>
  <cp:lastModifiedBy>Natasha W. Gicheha</cp:lastModifiedBy>
  <cp:revision>8</cp:revision>
  <dcterms:created xsi:type="dcterms:W3CDTF">2026-06-13T08:53:27Z</dcterms:created>
  <dcterms:modified xsi:type="dcterms:W3CDTF">2026-07-07T14:31:08Z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0x01010040C56ACB2D267F43A7C897B226DD1D15</vt:lpwstr>
  </property>
</Properties>
</file>